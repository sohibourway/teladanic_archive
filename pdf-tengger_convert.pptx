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ngenieroenminas.com/wp-content/uploads/2012/03/Imagen-2.-Compatibilidad-entre-el-equipo-de-carguio-y-el-de-transporte.jpg" TargetMode="External"/><Relationship Id="rId3" Type="http://schemas.openxmlformats.org/officeDocument/2006/relationships/image" Target="../media/image2.jpg"/><Relationship Id="rId4" Type="http://schemas.openxmlformats.org/officeDocument/2006/relationships/hyperlink" Target="http://www.ingenieroenminas.com/wp-content/uploads/2012/03/Imagen-3.-Carguio-y-transporte.jpg" TargetMode="External"/><Relationship Id="rId5" Type="http://schemas.openxmlformats.org/officeDocument/2006/relationships/image" Target="../media/image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ngenieroenminas.com/wp-content/uploads/2012/03/Imagen-4.-Carguio-y-transporte.jpg" TargetMode="External"/><Relationship Id="rId3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899160"/>
            <a:ext cx="5105400" cy="410527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69339" y="5147309"/>
            <a:ext cx="5634990" cy="3707129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>
              <a:lnSpc>
                <a:spcPct val="102299"/>
              </a:lnSpc>
              <a:spcBef>
                <a:spcPts val="7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Dentro</a:t>
            </a:r>
            <a:r>
              <a:rPr dirty="0" sz="1100" spc="24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24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las</a:t>
            </a:r>
            <a:r>
              <a:rPr dirty="0" sz="1100" spc="2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operaciones</a:t>
            </a:r>
            <a:r>
              <a:rPr dirty="0" sz="1100" spc="25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unitarias</a:t>
            </a:r>
            <a:r>
              <a:rPr dirty="0" sz="1100" spc="26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245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y</a:t>
            </a:r>
            <a:r>
              <a:rPr dirty="0" sz="1100" spc="254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transporte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es</a:t>
            </a:r>
            <a:r>
              <a:rPr dirty="0" sz="1100" spc="25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25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25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abarca</a:t>
            </a:r>
            <a:r>
              <a:rPr dirty="0" sz="1100" spc="25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mayor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cantidad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análisis,</a:t>
            </a:r>
            <a:r>
              <a:rPr dirty="0" sz="1100" spc="1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ya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</a:t>
            </a:r>
            <a:r>
              <a:rPr dirty="0" sz="1100" spc="10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encuentran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directamente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ligadas</a:t>
            </a:r>
            <a:r>
              <a:rPr dirty="0" sz="1100" spc="11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entre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sí,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tanto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el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dimensionamiento</a:t>
            </a:r>
            <a:r>
              <a:rPr dirty="0" sz="1100" spc="10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flota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considera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las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dos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operaciones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unitarias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como</a:t>
            </a:r>
            <a:r>
              <a:rPr dirty="0" sz="1100" spc="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conjunto,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debiendo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recurrir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</a:t>
            </a:r>
            <a:r>
              <a:rPr dirty="0" sz="1100" spc="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análisis</a:t>
            </a:r>
            <a:r>
              <a:rPr dirty="0" sz="1100" spc="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distintas</a:t>
            </a:r>
            <a:r>
              <a:rPr dirty="0" sz="1100" spc="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combinaciones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equipos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compatibles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entre</a:t>
            </a:r>
            <a:r>
              <a:rPr dirty="0" sz="1100" spc="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sí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y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operación.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Arial"/>
              <a:cs typeface="Arial"/>
            </a:endParaRPr>
          </a:p>
          <a:p>
            <a:pPr algn="just" marL="12700" marR="6350">
              <a:lnSpc>
                <a:spcPct val="102299"/>
              </a:lnSpc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Dependiendo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2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las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características</a:t>
            </a:r>
            <a:r>
              <a:rPr dirty="0" sz="1100" spc="2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2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explotación,</a:t>
            </a:r>
            <a:r>
              <a:rPr dirty="0" sz="1100" spc="2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muchas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alternativas</a:t>
            </a:r>
            <a:r>
              <a:rPr dirty="0" sz="1100" spc="2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2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equipos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quedarán</a:t>
            </a:r>
            <a:r>
              <a:rPr dirty="0" sz="1100" spc="2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fuera</a:t>
            </a:r>
            <a:r>
              <a:rPr dirty="0" sz="1100" spc="24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2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análisis,</a:t>
            </a:r>
            <a:r>
              <a:rPr dirty="0" sz="1100" spc="25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</a:t>
            </a:r>
            <a:r>
              <a:rPr dirty="0" sz="1100" spc="2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cual</a:t>
            </a:r>
            <a:r>
              <a:rPr dirty="0" sz="1100" spc="24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representa</a:t>
            </a:r>
            <a:r>
              <a:rPr dirty="0" sz="1100" spc="2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24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primer</a:t>
            </a:r>
            <a:r>
              <a:rPr dirty="0" sz="1100" spc="2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paso</a:t>
            </a:r>
            <a:r>
              <a:rPr dirty="0" sz="1100" spc="2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24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nuestro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dimensionamiento</a:t>
            </a:r>
            <a:r>
              <a:rPr dirty="0" sz="1100" spc="2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(definir</a:t>
            </a:r>
            <a:r>
              <a:rPr dirty="0" sz="1100" spc="2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límites</a:t>
            </a:r>
            <a:r>
              <a:rPr dirty="0" sz="1100" spc="26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técnicos</a:t>
            </a:r>
            <a:r>
              <a:rPr dirty="0" sz="1100" spc="2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y/</a:t>
            </a:r>
            <a:r>
              <a:rPr dirty="0" sz="1100" spc="2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</a:t>
            </a:r>
            <a:r>
              <a:rPr dirty="0" sz="1100" spc="25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económicos</a:t>
            </a:r>
            <a:r>
              <a:rPr dirty="0" sz="1100" spc="2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dirty="0" sz="1100" spc="2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los</a:t>
            </a:r>
            <a:r>
              <a:rPr dirty="0" sz="1100" spc="2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equipos</a:t>
            </a:r>
            <a:r>
              <a:rPr dirty="0" sz="1100" spc="2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dirty="0" sz="1100" spc="26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evaluar).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Muchas</a:t>
            </a:r>
            <a:r>
              <a:rPr dirty="0" sz="1100" spc="2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veces</a:t>
            </a:r>
            <a:r>
              <a:rPr dirty="0" sz="1100" spc="2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sólo</a:t>
            </a:r>
            <a:r>
              <a:rPr dirty="0" sz="1100" spc="2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es</a:t>
            </a:r>
            <a:r>
              <a:rPr dirty="0" sz="1100" spc="2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posible</a:t>
            </a:r>
            <a:r>
              <a:rPr dirty="0" sz="1100" spc="2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descartar</a:t>
            </a:r>
            <a:r>
              <a:rPr dirty="0" sz="1100" spc="2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una</a:t>
            </a:r>
            <a:r>
              <a:rPr dirty="0" sz="1100" spc="2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alternativa</a:t>
            </a:r>
            <a:r>
              <a:rPr dirty="0" sz="1100" spc="2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después</a:t>
            </a:r>
            <a:r>
              <a:rPr dirty="0" sz="1100" spc="2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2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haber</a:t>
            </a:r>
            <a:r>
              <a:rPr dirty="0" sz="1100" spc="2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evaluado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económicamente</a:t>
            </a:r>
            <a:r>
              <a:rPr dirty="0" sz="1100" spc="4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4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flota</a:t>
            </a:r>
            <a:r>
              <a:rPr dirty="0" sz="1100" spc="409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420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y</a:t>
            </a:r>
            <a:r>
              <a:rPr dirty="0" sz="1100" spc="405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,</a:t>
            </a:r>
            <a:r>
              <a:rPr dirty="0" sz="1100" spc="4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</a:t>
            </a:r>
            <a:r>
              <a:rPr dirty="0" sz="1100" spc="4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cual</a:t>
            </a:r>
            <a:r>
              <a:rPr dirty="0" sz="1100" spc="409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introduce</a:t>
            </a:r>
            <a:r>
              <a:rPr dirty="0" sz="1100" spc="4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una</a:t>
            </a:r>
            <a:r>
              <a:rPr dirty="0" sz="1100" spc="4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dificultad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adicional</a:t>
            </a:r>
            <a:r>
              <a:rPr dirty="0" sz="1100" spc="2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</a:t>
            </a:r>
            <a:r>
              <a:rPr dirty="0" sz="1100" spc="2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requerir</a:t>
            </a:r>
            <a:r>
              <a:rPr dirty="0" sz="1100" spc="2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una</a:t>
            </a:r>
            <a:r>
              <a:rPr dirty="0" sz="1100" spc="2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evaluación</a:t>
            </a:r>
            <a:r>
              <a:rPr dirty="0" sz="1100" spc="2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más</a:t>
            </a:r>
            <a:r>
              <a:rPr dirty="0" sz="1100" spc="2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acabada</a:t>
            </a:r>
            <a:r>
              <a:rPr dirty="0" sz="1100" spc="2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2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una</a:t>
            </a:r>
            <a:r>
              <a:rPr dirty="0" sz="1100" spc="2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flota</a:t>
            </a:r>
            <a:r>
              <a:rPr dirty="0" sz="1100" spc="2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2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finalmente</a:t>
            </a:r>
            <a:r>
              <a:rPr dirty="0" sz="1100" spc="2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sería descartada.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Arial"/>
              <a:cs typeface="Arial"/>
            </a:endParaRPr>
          </a:p>
          <a:p>
            <a:pPr algn="just" marL="12700" marR="6350">
              <a:lnSpc>
                <a:spcPct val="102299"/>
              </a:lnSpc>
              <a:spcBef>
                <a:spcPts val="5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2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requerido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2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explotación</a:t>
            </a:r>
            <a:r>
              <a:rPr dirty="0" sz="1100" spc="2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es</a:t>
            </a:r>
            <a:r>
              <a:rPr dirty="0" sz="1100" spc="20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primer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dato</a:t>
            </a:r>
            <a:r>
              <a:rPr dirty="0" sz="1100" spc="20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permitirá</a:t>
            </a:r>
            <a:r>
              <a:rPr dirty="0" sz="1100" spc="20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diseñar</a:t>
            </a:r>
            <a:r>
              <a:rPr dirty="0" sz="1100" spc="2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la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operación</a:t>
            </a:r>
            <a:r>
              <a:rPr dirty="0" sz="1100" spc="1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unitaria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y</a:t>
            </a:r>
            <a:r>
              <a:rPr dirty="0" sz="1100" spc="1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definir</a:t>
            </a:r>
            <a:r>
              <a:rPr dirty="0" sz="1100" spc="2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1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los</a:t>
            </a:r>
            <a:r>
              <a:rPr dirty="0" sz="1100" spc="1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equipos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cumplir</a:t>
            </a:r>
            <a:r>
              <a:rPr dirty="0" sz="1100" spc="1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1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plan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del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período.</a:t>
            </a:r>
            <a:r>
              <a:rPr dirty="0" sz="1100" spc="4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Junto</a:t>
            </a:r>
            <a:r>
              <a:rPr dirty="0" sz="1100" spc="4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</a:t>
            </a:r>
            <a:r>
              <a:rPr dirty="0" sz="1100" spc="4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ello</a:t>
            </a:r>
            <a:r>
              <a:rPr dirty="0" sz="1100" spc="4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necesitamos</a:t>
            </a:r>
            <a:r>
              <a:rPr dirty="0" sz="1100" spc="4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las</a:t>
            </a:r>
            <a:r>
              <a:rPr dirty="0" sz="1100" spc="4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características</a:t>
            </a:r>
            <a:r>
              <a:rPr dirty="0" sz="1100" spc="4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básicas</a:t>
            </a:r>
            <a:r>
              <a:rPr dirty="0" sz="1100" spc="4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4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4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explotación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(dimensiones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diseño,</a:t>
            </a:r>
            <a:r>
              <a:rPr dirty="0" sz="1100" spc="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perfiles</a:t>
            </a:r>
            <a:r>
              <a:rPr dirty="0" sz="1100" spc="4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transporte,</a:t>
            </a:r>
            <a:r>
              <a:rPr dirty="0" sz="1100" spc="4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pendientes,</a:t>
            </a:r>
            <a:r>
              <a:rPr dirty="0" sz="1100" spc="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áreas</a:t>
            </a:r>
            <a:r>
              <a:rPr dirty="0" sz="1100" spc="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disponibles,</a:t>
            </a:r>
            <a:r>
              <a:rPr dirty="0" sz="1100" spc="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resistencia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rodadura,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limitantes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estabilidad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pesos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máximos,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otras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limitantes,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etc.).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Arial"/>
              <a:cs typeface="Arial"/>
            </a:endParaRPr>
          </a:p>
          <a:p>
            <a:pPr algn="just" marL="12700" marR="12700">
              <a:lnSpc>
                <a:spcPct val="102299"/>
              </a:lnSpc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Antes</a:t>
            </a:r>
            <a:r>
              <a:rPr dirty="0" sz="1100" spc="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ser</a:t>
            </a:r>
            <a:r>
              <a:rPr dirty="0" sz="1100" spc="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evaluada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flota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equipos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y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deberá</a:t>
            </a:r>
            <a:r>
              <a:rPr dirty="0" sz="1100" spc="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cumplirse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inicialmente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siguiente: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9339" y="889000"/>
            <a:ext cx="5636260" cy="136525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>
              <a:lnSpc>
                <a:spcPct val="102299"/>
              </a:lnSpc>
              <a:spcBef>
                <a:spcPts val="70"/>
              </a:spcBef>
              <a:buChar char="*"/>
              <a:tabLst>
                <a:tab pos="185420" algn="l"/>
              </a:tabLst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Compatibilidad física entre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los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equipos</a:t>
            </a:r>
            <a:r>
              <a:rPr dirty="0" sz="1100" spc="5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de carguío</a:t>
            </a:r>
            <a:r>
              <a:rPr dirty="0" sz="1100" spc="5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y</a:t>
            </a:r>
            <a:r>
              <a:rPr dirty="0" sz="1100" spc="-5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5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 explotación,</a:t>
            </a:r>
            <a:r>
              <a:rPr dirty="0" sz="1100" spc="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es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decir que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flota</a:t>
            </a:r>
            <a:r>
              <a:rPr dirty="0" sz="1100" spc="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equipos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sea</a:t>
            </a:r>
            <a:r>
              <a:rPr dirty="0" sz="1100" spc="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capaz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operar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faena</a:t>
            </a:r>
            <a:r>
              <a:rPr dirty="0" sz="1100" spc="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condiciones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normales</a:t>
            </a:r>
            <a:r>
              <a:rPr dirty="0" sz="1100" spc="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operación</a:t>
            </a:r>
            <a:r>
              <a:rPr dirty="0" sz="1100" spc="1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y</a:t>
            </a:r>
            <a:r>
              <a:rPr dirty="0" sz="1100" spc="1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seguridad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(en</a:t>
            </a:r>
            <a:r>
              <a:rPr dirty="0" sz="1100" spc="1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función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altura</a:t>
            </a:r>
            <a:r>
              <a:rPr dirty="0" sz="1100" spc="1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bancos,</a:t>
            </a:r>
            <a:r>
              <a:rPr dirty="0" sz="1100" spc="1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dimensiones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operacionales,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selectividad,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etc.).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434343"/>
              </a:buClr>
              <a:buFont typeface="Arial"/>
              <a:buChar char="*"/>
            </a:pPr>
            <a:endParaRPr sz="950">
              <a:latin typeface="Arial"/>
              <a:cs typeface="Arial"/>
            </a:endParaRPr>
          </a:p>
          <a:p>
            <a:pPr algn="just" marL="12700" marR="5080">
              <a:lnSpc>
                <a:spcPct val="102299"/>
              </a:lnSpc>
              <a:buChar char="*"/>
              <a:tabLst>
                <a:tab pos="198120" algn="l"/>
              </a:tabLst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Compatibilidad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física</a:t>
            </a:r>
            <a:r>
              <a:rPr dirty="0" sz="1100" spc="1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entre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110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05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105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y</a:t>
            </a:r>
            <a:r>
              <a:rPr dirty="0" sz="1100" spc="100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110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05" b="1" i="1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,</a:t>
            </a:r>
            <a:r>
              <a:rPr dirty="0" sz="1100" spc="10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es</a:t>
            </a:r>
            <a:r>
              <a:rPr dirty="0" sz="1100" spc="10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decir</a:t>
            </a:r>
            <a:r>
              <a:rPr dirty="0" sz="1100" spc="11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10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el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sea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capaz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operar</a:t>
            </a:r>
            <a:r>
              <a:rPr dirty="0" sz="1100" spc="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conjunto</a:t>
            </a:r>
            <a:r>
              <a:rPr dirty="0" sz="1100" spc="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(altura</a:t>
            </a:r>
            <a:r>
              <a:rPr dirty="0" sz="1100" spc="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descarga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v/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altura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carga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transporte).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" name="object 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135" y="2385072"/>
            <a:ext cx="4010025" cy="260983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69339" y="5128259"/>
            <a:ext cx="5633720" cy="364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Verificadas</a:t>
            </a:r>
            <a:r>
              <a:rPr dirty="0" sz="1100" spc="2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estas</a:t>
            </a:r>
            <a:r>
              <a:rPr dirty="0" sz="1100" spc="2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condiciones</a:t>
            </a:r>
            <a:r>
              <a:rPr dirty="0" sz="1100" spc="3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(especificaciones</a:t>
            </a:r>
            <a:r>
              <a:rPr dirty="0" sz="1100" spc="30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técnicas</a:t>
            </a:r>
            <a:r>
              <a:rPr dirty="0" sz="1100" spc="3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básicas),</a:t>
            </a:r>
            <a:r>
              <a:rPr dirty="0" sz="1100" spc="2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podemos</a:t>
            </a:r>
            <a:r>
              <a:rPr dirty="0" sz="1100" spc="30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continuar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definiendo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carguío: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96110" y="5623572"/>
            <a:ext cx="4010025" cy="265746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69339" y="8453119"/>
            <a:ext cx="4398645" cy="508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665" algn="l"/>
                <a:tab pos="720725" algn="l"/>
              </a:tabLst>
            </a:pPr>
            <a:r>
              <a:rPr dirty="0" sz="1100" spc="-50" b="1" i="1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Tonelaje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total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mover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período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(toneladas).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84175" algn="l"/>
                <a:tab pos="73723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Vb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Volumen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balde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(metros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cúbicos).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9339" y="889000"/>
            <a:ext cx="34601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9615" algn="l"/>
              </a:tabLst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FLc</a:t>
            </a:r>
            <a:r>
              <a:rPr dirty="0" sz="1100" spc="14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Factor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llenado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(%)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9339" y="1203959"/>
            <a:ext cx="1035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e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69428" y="1203959"/>
            <a:ext cx="23571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Esponjamiento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material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(%).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69339" y="1517650"/>
            <a:ext cx="5628005" cy="41363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  <a:tabLst>
                <a:tab pos="423545" algn="l"/>
                <a:tab pos="64960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FM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Factor</a:t>
            </a:r>
            <a:r>
              <a:rPr dirty="0" sz="1100" spc="1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2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material</a:t>
            </a:r>
            <a:r>
              <a:rPr dirty="0" sz="1100" spc="2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castiga</a:t>
            </a:r>
            <a:r>
              <a:rPr dirty="0" sz="1100" spc="2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20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tiempo</a:t>
            </a:r>
            <a:r>
              <a:rPr dirty="0" sz="1100" spc="1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2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ciclo</a:t>
            </a:r>
            <a:r>
              <a:rPr dirty="0" sz="1100" spc="20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20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20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causa</a:t>
            </a:r>
            <a:r>
              <a:rPr dirty="0" sz="1100" spc="2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alguna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propiedad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material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haga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más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difícil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su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manipulación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(%).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44855" algn="l"/>
              </a:tabLst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TCc</a:t>
            </a:r>
            <a:r>
              <a:rPr dirty="0" sz="1100" spc="14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Tiempo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ciclo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(horas).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05765" algn="l"/>
                <a:tab pos="75882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DFc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Disponibilidad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física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(%).</a:t>
            </a:r>
            <a:endParaRPr sz="1100">
              <a:latin typeface="Arial"/>
              <a:cs typeface="Arial"/>
            </a:endParaRPr>
          </a:p>
          <a:p>
            <a:pPr marL="12700" marR="1941830">
              <a:lnSpc>
                <a:spcPct val="187500"/>
              </a:lnSpc>
              <a:spcBef>
                <a:spcPts val="5"/>
              </a:spcBef>
              <a:tabLst>
                <a:tab pos="405765" algn="l"/>
                <a:tab pos="744855" algn="l"/>
                <a:tab pos="76644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UTc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</a:t>
            </a:r>
            <a:r>
              <a:rPr dirty="0" sz="1100" spc="-2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Factor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utilización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(%). </a:t>
            </a: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FOc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25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		Factor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operacional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(%).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HTc</a:t>
            </a:r>
            <a:r>
              <a:rPr dirty="0" sz="1100" spc="14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Horas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trabajadas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turno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(horas).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05765" algn="l"/>
                <a:tab pos="75882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TDc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Turnos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trabajados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día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(turnos/día).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52475" algn="l"/>
              </a:tabLst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DPc</a:t>
            </a:r>
            <a:r>
              <a:rPr dirty="0" sz="1100" spc="14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Días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período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(días).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07034" algn="l"/>
                <a:tab pos="760095" algn="l"/>
              </a:tabLst>
            </a:pPr>
            <a:r>
              <a:rPr dirty="0" sz="1100" spc="-50" b="1" i="1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Densidad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material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(toneladas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metro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cúbico).</a:t>
            </a:r>
            <a:endParaRPr sz="1100">
              <a:latin typeface="Arial"/>
              <a:cs typeface="Arial"/>
            </a:endParaRPr>
          </a:p>
          <a:p>
            <a:pPr marL="12700" marR="1163320">
              <a:lnSpc>
                <a:spcPct val="187400"/>
              </a:lnSpc>
              <a:spcBef>
                <a:spcPts val="5"/>
              </a:spcBef>
              <a:tabLst>
                <a:tab pos="384175" algn="l"/>
                <a:tab pos="72199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Cc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</a:t>
            </a:r>
            <a:r>
              <a:rPr dirty="0" sz="1100" spc="-1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Capacidad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(toneladas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palada).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RHc</a:t>
            </a:r>
            <a:r>
              <a:rPr dirty="0" sz="1100" spc="30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Rendimiento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horario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(toneladas/hora).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RDc</a:t>
            </a:r>
            <a:r>
              <a:rPr dirty="0" sz="1100" spc="30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Rendimiento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diario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(toneladas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día).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capacidad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80135" y="5785484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R="3810">
              <a:lnSpc>
                <a:spcPct val="100000"/>
              </a:lnSpc>
              <a:spcBef>
                <a:spcPts val="2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Cc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Vb 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FLc x</a:t>
            </a:r>
            <a:r>
              <a:rPr dirty="0" sz="1100" spc="10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(100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dirty="0" sz="1100" spc="9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e)</a:t>
            </a:r>
            <a:r>
              <a:rPr dirty="0" sz="1100" spc="10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(ton</a:t>
            </a:r>
            <a:r>
              <a:rPr dirty="0" sz="1100" spc="-1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palada)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69339" y="6089650"/>
            <a:ext cx="362775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horario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0135" y="6414134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2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RHc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(Cc x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DFc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UTc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FOc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 FM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 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dirty="0" baseline="38461" sz="975" spc="-15" b="1" i="1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dirty="0" baseline="38461" sz="975" b="1" i="1">
                <a:solidFill>
                  <a:srgbClr val="0000FF"/>
                </a:solidFill>
                <a:latin typeface="Arial"/>
                <a:cs typeface="Arial"/>
              </a:rPr>
              <a:t>8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TCc</a:t>
            </a:r>
            <a:r>
              <a:rPr dirty="0" sz="1100" spc="509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(ton/hra)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07439" y="6718300"/>
            <a:ext cx="35350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diario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80135" y="7042784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2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RDc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RHc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HTc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TDc</a:t>
            </a:r>
            <a:r>
              <a:rPr dirty="0" sz="1100" spc="10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(ton/día)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69339" y="7346950"/>
            <a:ext cx="39065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período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80135" y="7671434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2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RPc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RDc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DPc</a:t>
            </a:r>
            <a:r>
              <a:rPr dirty="0" sz="1100" spc="10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(ton/período)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69339" y="7975600"/>
            <a:ext cx="54521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requeridos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cumplir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producción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período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80135" y="8300084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R="3810">
              <a:lnSpc>
                <a:spcPct val="100000"/>
              </a:lnSpc>
              <a:spcBef>
                <a:spcPts val="2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NºEquipos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Carguío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RPc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69339" y="8604250"/>
            <a:ext cx="5626735" cy="364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Resultado</a:t>
            </a:r>
            <a:r>
              <a:rPr dirty="0" sz="1100" spc="1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</a:t>
            </a:r>
            <a:r>
              <a:rPr dirty="0" sz="1100" spc="1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cual</a:t>
            </a:r>
            <a:r>
              <a:rPr dirty="0" sz="1100" spc="11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</a:t>
            </a:r>
            <a:r>
              <a:rPr dirty="0" sz="1100" spc="11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tendrá</a:t>
            </a:r>
            <a:r>
              <a:rPr dirty="0" sz="1100" spc="10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1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someter</a:t>
            </a:r>
            <a:r>
              <a:rPr dirty="0" sz="1100" spc="11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dirty="0" sz="1100" spc="1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11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análisis</a:t>
            </a:r>
            <a:r>
              <a:rPr dirty="0" sz="1100" spc="1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criterios</a:t>
            </a:r>
            <a:r>
              <a:rPr dirty="0" sz="1100" spc="1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</a:t>
            </a:r>
            <a:r>
              <a:rPr dirty="0" sz="1100" spc="1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11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permita</a:t>
            </a:r>
            <a:r>
              <a:rPr dirty="0" sz="1100" spc="1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definir</a:t>
            </a:r>
            <a:r>
              <a:rPr dirty="0" sz="1100" spc="1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un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</a:t>
            </a:r>
            <a:r>
              <a:rPr dirty="0" sz="1100" spc="-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entero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equipos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operación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carguío.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9339" y="889000"/>
            <a:ext cx="5634990" cy="2165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caso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debemos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considerar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siguiente: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Arial"/>
              <a:cs typeface="Arial"/>
            </a:endParaRPr>
          </a:p>
          <a:p>
            <a:pPr algn="just" marL="12700" marR="6985">
              <a:lnSpc>
                <a:spcPct val="102299"/>
              </a:lnSpc>
              <a:buChar char="*"/>
              <a:tabLst>
                <a:tab pos="280670" algn="l"/>
              </a:tabLst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1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</a:t>
            </a:r>
            <a:r>
              <a:rPr dirty="0" sz="1100" spc="14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horas,</a:t>
            </a:r>
            <a:r>
              <a:rPr dirty="0" sz="1100" spc="14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turnos</a:t>
            </a:r>
            <a:r>
              <a:rPr dirty="0" sz="1100" spc="1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y</a:t>
            </a:r>
            <a:r>
              <a:rPr dirty="0" sz="1100" spc="1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días</a:t>
            </a:r>
            <a:r>
              <a:rPr dirty="0" sz="1100" spc="14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14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período</a:t>
            </a:r>
            <a:r>
              <a:rPr dirty="0" sz="1100" spc="1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1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1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</a:t>
            </a:r>
            <a:r>
              <a:rPr dirty="0" sz="1100" spc="1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1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transporte,</a:t>
            </a:r>
            <a:r>
              <a:rPr dirty="0" sz="1100" spc="14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son</a:t>
            </a:r>
            <a:r>
              <a:rPr dirty="0" sz="1100" spc="1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los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mismos</a:t>
            </a:r>
            <a:r>
              <a:rPr dirty="0" sz="1100" spc="-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caso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(no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puede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operar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sin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otro).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434343"/>
              </a:buClr>
              <a:buFont typeface="Arial"/>
              <a:buChar char="*"/>
            </a:pPr>
            <a:endParaRPr sz="950">
              <a:latin typeface="Arial"/>
              <a:cs typeface="Arial"/>
            </a:endParaRPr>
          </a:p>
          <a:p>
            <a:pPr algn="just" marL="12700" marR="5080">
              <a:lnSpc>
                <a:spcPct val="102299"/>
              </a:lnSpc>
              <a:spcBef>
                <a:spcPts val="5"/>
              </a:spcBef>
              <a:buChar char="*"/>
              <a:tabLst>
                <a:tab pos="265430" algn="l"/>
              </a:tabLst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tendrá</a:t>
            </a:r>
            <a:r>
              <a:rPr dirty="0" sz="1100" spc="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maximizar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utilización</a:t>
            </a:r>
            <a:r>
              <a:rPr dirty="0" sz="1100" spc="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capacidad</a:t>
            </a:r>
            <a:r>
              <a:rPr dirty="0" sz="1100" spc="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función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la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capacidad</a:t>
            </a:r>
            <a:r>
              <a:rPr dirty="0" sz="1100" spc="14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16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1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</a:t>
            </a:r>
            <a:r>
              <a:rPr dirty="0" sz="1100" spc="1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viceversa</a:t>
            </a:r>
            <a:r>
              <a:rPr dirty="0" sz="1100" spc="1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(garantizar</a:t>
            </a:r>
            <a:r>
              <a:rPr dirty="0" sz="1100" spc="16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16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1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</a:t>
            </a:r>
            <a:r>
              <a:rPr dirty="0" sz="1100" spc="1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16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paladas</a:t>
            </a:r>
            <a:r>
              <a:rPr dirty="0" sz="1100" spc="1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1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llenar</a:t>
            </a:r>
            <a:r>
              <a:rPr dirty="0" sz="1100" spc="1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el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sea</a:t>
            </a:r>
            <a:r>
              <a:rPr dirty="0" sz="1100" spc="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</a:t>
            </a:r>
            <a:r>
              <a:rPr dirty="0" sz="1100" spc="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más</a:t>
            </a:r>
            <a:r>
              <a:rPr dirty="0" sz="1100" spc="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próximo</a:t>
            </a:r>
            <a:r>
              <a:rPr dirty="0" sz="1100" spc="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</a:t>
            </a:r>
            <a:r>
              <a:rPr dirty="0" sz="1100" spc="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entero,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modo</a:t>
            </a:r>
            <a:r>
              <a:rPr dirty="0" sz="1100" spc="8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9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maximizar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el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factor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llenado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aprovechamiento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capacidad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transporte).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434343"/>
              </a:buClr>
              <a:buFont typeface="Arial"/>
              <a:buChar char="*"/>
            </a:pPr>
            <a:endParaRPr sz="950">
              <a:latin typeface="Arial"/>
              <a:cs typeface="Arial"/>
            </a:endParaRPr>
          </a:p>
          <a:p>
            <a:pPr algn="just" marL="12700" marR="10160">
              <a:lnSpc>
                <a:spcPct val="102299"/>
              </a:lnSpc>
              <a:buChar char="*"/>
              <a:tabLst>
                <a:tab pos="269240" algn="l"/>
              </a:tabLst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</a:t>
            </a:r>
            <a:r>
              <a:rPr dirty="0" sz="1100" spc="4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tendrá</a:t>
            </a:r>
            <a:r>
              <a:rPr dirty="0" sz="1100" spc="5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5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optimizar</a:t>
            </a:r>
            <a:r>
              <a:rPr dirty="0" sz="1100" spc="6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tiempo</a:t>
            </a:r>
            <a:r>
              <a:rPr dirty="0" sz="1100" spc="5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6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llenado</a:t>
            </a:r>
            <a:r>
              <a:rPr dirty="0" sz="1100" spc="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5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5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función</a:t>
            </a:r>
            <a:r>
              <a:rPr dirty="0" sz="1100" spc="5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6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tiempo</a:t>
            </a:r>
            <a:r>
              <a:rPr dirty="0" sz="1100" spc="5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carguío,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es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decir que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 de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paladas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llenar</a:t>
            </a:r>
            <a:r>
              <a:rPr dirty="0" sz="1100" spc="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sea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tal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que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perjudique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global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flota.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" name="object 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135" y="3499484"/>
            <a:ext cx="4953000" cy="39243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69339" y="7871459"/>
            <a:ext cx="23539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Considerando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anterior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definiremos: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050289" y="8211083"/>
          <a:ext cx="4150360" cy="783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/>
                <a:gridCol w="311150"/>
                <a:gridCol w="3522979"/>
              </a:tblGrid>
              <a:tr h="234950">
                <a:tc>
                  <a:txBody>
                    <a:bodyPr/>
                    <a:lstStyle/>
                    <a:p>
                      <a:pPr marL="31750">
                        <a:lnSpc>
                          <a:spcPts val="1215"/>
                        </a:lnSpc>
                      </a:pPr>
                      <a:r>
                        <a:rPr dirty="0" sz="1100" b="1" i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215"/>
                        </a:lnSpc>
                      </a:pP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=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215"/>
                        </a:lnSpc>
                      </a:pP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Tonelaje</a:t>
                      </a:r>
                      <a:r>
                        <a:rPr dirty="0" sz="1100" spc="-1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100" spc="-2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100" spc="-15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mover</a:t>
                      </a:r>
                      <a:r>
                        <a:rPr dirty="0" sz="1100" spc="-2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dirty="0" sz="1100" spc="-1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período</a:t>
                      </a:r>
                      <a:r>
                        <a:rPr dirty="0" sz="1100" spc="-5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(toneladas).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143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25" b="1" i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Cc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=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Capacidad</a:t>
                      </a:r>
                      <a:r>
                        <a:rPr dirty="0" sz="1100" spc="-1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del</a:t>
                      </a:r>
                      <a:r>
                        <a:rPr dirty="0" sz="1100" spc="-15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equipo</a:t>
                      </a:r>
                      <a:r>
                        <a:rPr dirty="0" sz="1100" spc="-2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100" spc="-2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carguío</a:t>
                      </a:r>
                      <a:r>
                        <a:rPr dirty="0" sz="1100" spc="-2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(toneladas</a:t>
                      </a:r>
                      <a:r>
                        <a:rPr dirty="0" sz="1100" spc="-1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100" spc="-2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palada).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6040"/>
                </a:tc>
              </a:tr>
              <a:tr h="234315">
                <a:tc>
                  <a:txBody>
                    <a:bodyPr/>
                    <a:lstStyle/>
                    <a:p>
                      <a:pPr marL="31750">
                        <a:lnSpc>
                          <a:spcPts val="1235"/>
                        </a:lnSpc>
                        <a:spcBef>
                          <a:spcPts val="515"/>
                        </a:spcBef>
                      </a:pPr>
                      <a:r>
                        <a:rPr dirty="0" sz="1100" spc="-25" b="1" i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Ctt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5405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235"/>
                        </a:lnSpc>
                        <a:spcBef>
                          <a:spcPts val="515"/>
                        </a:spcBef>
                      </a:pP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=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5405"/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ts val="1235"/>
                        </a:lnSpc>
                        <a:spcBef>
                          <a:spcPts val="515"/>
                        </a:spcBef>
                      </a:pP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Capacidad</a:t>
                      </a:r>
                      <a:r>
                        <a:rPr dirty="0" sz="1100" spc="-1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del</a:t>
                      </a:r>
                      <a:r>
                        <a:rPr dirty="0" sz="1100" spc="-15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equipo</a:t>
                      </a:r>
                      <a:r>
                        <a:rPr dirty="0" sz="1100" spc="-2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100" spc="-2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transporte</a:t>
                      </a:r>
                      <a:r>
                        <a:rPr dirty="0" sz="1100" spc="-25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434343"/>
                          </a:solidFill>
                          <a:latin typeface="Arial"/>
                          <a:cs typeface="Arial"/>
                        </a:rPr>
                        <a:t>(toneladas)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540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9339" y="889000"/>
            <a:ext cx="4157979" cy="1136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175" algn="l"/>
                <a:tab pos="73723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FLt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Factor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llenado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(%).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44855" algn="l"/>
              </a:tabLst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TCc</a:t>
            </a:r>
            <a:r>
              <a:rPr dirty="0" sz="1100" spc="14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Tiempo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ciclo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(horas).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74015" algn="l"/>
                <a:tab pos="72707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TCt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Tiempo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ciclo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(horas).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29615" algn="l"/>
              </a:tabLst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TMt</a:t>
            </a:r>
            <a:r>
              <a:rPr dirty="0" sz="1100" spc="14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Tiempo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maniobras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(horas).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9339" y="2146300"/>
            <a:ext cx="448945" cy="508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TVt</a:t>
            </a:r>
            <a:r>
              <a:rPr dirty="0" sz="1100" spc="140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TVct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62798" y="2146300"/>
            <a:ext cx="24244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Tiempo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viaje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(horas).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63915" y="2461259"/>
            <a:ext cx="29667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Tiempo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viaje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cargado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(horas).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69339" y="2774950"/>
            <a:ext cx="501015" cy="302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TVdt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7401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DFt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UTt</a:t>
            </a:r>
            <a:r>
              <a:rPr dirty="0" sz="1100" spc="14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FOt</a:t>
            </a:r>
            <a:r>
              <a:rPr dirty="0" sz="1100" spc="14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0576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HTc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0576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TDc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DPc</a:t>
            </a:r>
            <a:r>
              <a:rPr dirty="0" sz="1100" spc="14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6131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NP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8925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RHt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RDt</a:t>
            </a:r>
            <a:r>
              <a:rPr dirty="0" sz="1100" spc="14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71535" y="2774950"/>
            <a:ext cx="31927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Tiempo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viaje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descargado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(horas).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84388" y="3089909"/>
            <a:ext cx="31000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Disponibilidad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física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(%).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71535" y="3403600"/>
            <a:ext cx="31064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Factor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utilización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(%).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79155" y="3718559"/>
            <a:ext cx="30219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Factor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operacional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(%).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15985" y="4032250"/>
            <a:ext cx="37211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Horas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trabajadas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turno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(horas).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815985" y="4347209"/>
            <a:ext cx="41700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Turnos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trabajados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día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(turnos/día).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809788" y="4660900"/>
            <a:ext cx="32473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Días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período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carguío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y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(días).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771535" y="4975859"/>
            <a:ext cx="35026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paladas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cargar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transporte.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799628" y="5289550"/>
            <a:ext cx="392302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horario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(toneladas/hora).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786775" y="5604509"/>
            <a:ext cx="382142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diario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(toneladas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/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día).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69339" y="6233159"/>
            <a:ext cx="4676140" cy="821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Además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tendremos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definir: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29615" algn="l"/>
              </a:tabLst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RD%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Resistencia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Rodadura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(%).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36245" algn="l"/>
                <a:tab pos="789305" algn="l"/>
              </a:tabLst>
            </a:pP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P%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	Pendientes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máximas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vencer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(%).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69339" y="7490459"/>
            <a:ext cx="4963160" cy="1450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Perfiles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período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cargado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(en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Kilómetros)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como: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Dcht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2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Distancias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Horizontales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(pendiente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0%).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Dcst</a:t>
            </a:r>
            <a:r>
              <a:rPr dirty="0" sz="1100" spc="28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Distancias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Subida (pendiente &gt;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0%).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Dcbt</a:t>
            </a:r>
            <a:r>
              <a:rPr dirty="0" sz="1100" spc="135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4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Distancias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Bajada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(pendiente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&lt;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0%).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Dcct</a:t>
            </a:r>
            <a:r>
              <a:rPr dirty="0" sz="1100" spc="140" b="1" i="1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4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Distancias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Curvas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(con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su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respectiva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pendiente).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9339" y="1203959"/>
            <a:ext cx="5187315" cy="1450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Perfiles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período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descargado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(en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Kilómetros)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como: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Ddht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2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Distancias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Horizontales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(pendiente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0%).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Ddst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3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Distancias 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Subida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(pendiente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&gt;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0%).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Ddbt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3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Distancias 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Bajada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(pendiente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&lt;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0%).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Ddct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Distancias 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Curvas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(con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su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respectiva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pendiente).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9339" y="3089909"/>
            <a:ext cx="5078730" cy="1450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Velocidades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desarrolladas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cargado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(según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catálogo,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Km/hra)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como: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Vcht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2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Velocidades en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distancias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horizontales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(pendiente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0%+RD%).</a:t>
            </a:r>
            <a:endParaRPr sz="1100">
              <a:latin typeface="Arial"/>
              <a:cs typeface="Arial"/>
            </a:endParaRPr>
          </a:p>
          <a:p>
            <a:pPr marL="12700" marR="2124075">
              <a:lnSpc>
                <a:spcPct val="187500"/>
              </a:lnSpc>
              <a:spcBef>
                <a:spcPts val="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Vcst</a:t>
            </a:r>
            <a:r>
              <a:rPr dirty="0" sz="1100" spc="28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4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Velocidades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subida (P%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+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RD%).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Vcbt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Velocidades 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bajada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(P%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–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RD%).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Vcct</a:t>
            </a:r>
            <a:r>
              <a:rPr dirty="0" sz="1100" spc="28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4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Velocidades 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curvas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(P%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+/-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RD%).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9339" y="4975859"/>
            <a:ext cx="5305425" cy="1450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Velocidades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desarrolladas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descargado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(según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catálogo,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Km/hra)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como: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Vdht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2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Velocidades en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distancias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horizontales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(pendiente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0%+RD%).</a:t>
            </a:r>
            <a:endParaRPr sz="1100">
              <a:latin typeface="Arial"/>
              <a:cs typeface="Arial"/>
            </a:endParaRPr>
          </a:p>
          <a:p>
            <a:pPr algn="just" marL="12700" marR="2381885">
              <a:lnSpc>
                <a:spcPct val="187500"/>
              </a:lnSpc>
              <a:spcBef>
                <a:spcPts val="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Vdst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Velocidades en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subida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(P%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+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RD%). </a:t>
            </a:r>
            <a:r>
              <a:rPr dirty="0" sz="1100" b="1">
                <a:solidFill>
                  <a:srgbClr val="0000FF"/>
                </a:solidFill>
                <a:latin typeface="Arial"/>
                <a:cs typeface="Arial"/>
              </a:rPr>
              <a:t>Vdbt</a:t>
            </a:r>
            <a:r>
              <a:rPr dirty="0" sz="1100" spc="-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Velocidades 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bajada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(P%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–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RD%).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Vdct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=</a:t>
            </a:r>
            <a:r>
              <a:rPr dirty="0" sz="1100" spc="135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Velocidades en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curvas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(P%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+/-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RD%).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69339" y="6861809"/>
            <a:ext cx="11195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cual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resulta: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80135" y="7186294"/>
            <a:ext cx="5612130" cy="80010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190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1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TVct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(Dcht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Vcht) +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(Dcst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Vcst)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(Dcbt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Vcbt)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(Dcct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Vcct)</a:t>
            </a:r>
            <a:r>
              <a:rPr dirty="0" sz="1100" spc="12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(hrs)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algn="ctr" marR="3175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TVdt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(Ddht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Vdht) +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(Ddst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Vdst)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(Ddbt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Vdbt)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(Ddct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Vdct)</a:t>
            </a:r>
            <a:r>
              <a:rPr dirty="0" sz="1100" spc="12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(hrs)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algn="ctr" marR="3175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TVt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TVct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TVdt</a:t>
            </a:r>
            <a:r>
              <a:rPr dirty="0" sz="1100" spc="10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0000FF"/>
                </a:solidFill>
                <a:latin typeface="Arial"/>
                <a:cs typeface="Arial"/>
              </a:rPr>
              <a:t>(hrs)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69339" y="8119109"/>
            <a:ext cx="6464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Entonces: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0135" y="8443594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190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TCt =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TMt +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NP x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TCc</a:t>
            </a:r>
            <a:r>
              <a:rPr dirty="0" sz="1100" spc="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TVt</a:t>
            </a:r>
            <a:r>
              <a:rPr dirty="0" sz="1100" spc="1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(hrs),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07439" y="8747759"/>
            <a:ext cx="52368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paladas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necesarias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cargar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está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dado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por: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80135" y="899794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190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1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NP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Ct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Cc</a:t>
            </a:r>
            <a:r>
              <a:rPr dirty="0" sz="1100" spc="10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(paladas),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9339" y="1203959"/>
            <a:ext cx="5634355" cy="8496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>
              <a:lnSpc>
                <a:spcPct val="102299"/>
              </a:lnSpc>
              <a:spcBef>
                <a:spcPts val="7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cuyo</a:t>
            </a:r>
            <a:r>
              <a:rPr dirty="0" sz="1100" spc="4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resultado</a:t>
            </a:r>
            <a:r>
              <a:rPr dirty="0" sz="1100" spc="43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tendrá</a:t>
            </a:r>
            <a:r>
              <a:rPr dirty="0" sz="1100" spc="4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43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ser</a:t>
            </a:r>
            <a:r>
              <a:rPr dirty="0" sz="1100" spc="44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analizado</a:t>
            </a:r>
            <a:r>
              <a:rPr dirty="0" sz="1100" spc="44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43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modo</a:t>
            </a:r>
            <a:r>
              <a:rPr dirty="0" sz="1100" spc="43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NP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sea</a:t>
            </a:r>
            <a:r>
              <a:rPr dirty="0" sz="1100" spc="43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4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</a:t>
            </a:r>
            <a:r>
              <a:rPr dirty="0" sz="1100" spc="434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entero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operacionalmente</a:t>
            </a:r>
            <a:r>
              <a:rPr dirty="0" sz="1100" spc="3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aceptable,</a:t>
            </a:r>
            <a:r>
              <a:rPr dirty="0" sz="1100" spc="3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es</a:t>
            </a:r>
            <a:r>
              <a:rPr dirty="0" sz="1100" spc="3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decir</a:t>
            </a:r>
            <a:r>
              <a:rPr dirty="0" sz="1100" spc="3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compatible</a:t>
            </a:r>
            <a:r>
              <a:rPr dirty="0" sz="1100" spc="3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</a:t>
            </a:r>
            <a:r>
              <a:rPr dirty="0" sz="1100" spc="30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30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operación</a:t>
            </a:r>
            <a:r>
              <a:rPr dirty="0" sz="1100" spc="3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y</a:t>
            </a:r>
            <a:r>
              <a:rPr dirty="0" sz="1100" spc="3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los</a:t>
            </a:r>
            <a:r>
              <a:rPr dirty="0" sz="1100" spc="3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criterios</a:t>
            </a:r>
            <a:r>
              <a:rPr dirty="0" sz="1100" spc="3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selección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(análisis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0" b="1" i="1">
                <a:solidFill>
                  <a:srgbClr val="0000FF"/>
                </a:solidFill>
                <a:latin typeface="Arial"/>
                <a:cs typeface="Arial"/>
              </a:rPr>
              <a:t>FLt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horario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135" y="2185035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2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RHt 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NP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Cc 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DFt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UTt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FOt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dirty="0" baseline="38461" sz="975" spc="-15" b="1" i="1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dirty="0" baseline="38461" sz="975" b="1" i="1">
                <a:solidFill>
                  <a:srgbClr val="0000FF"/>
                </a:solidFill>
                <a:latin typeface="Arial"/>
                <a:cs typeface="Arial"/>
              </a:rPr>
              <a:t>6</a:t>
            </a:r>
            <a:r>
              <a:rPr dirty="0" baseline="38461" sz="975" spc="337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TCt</a:t>
            </a:r>
            <a:r>
              <a:rPr dirty="0" sz="1100" spc="10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(ton/hra),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69339" y="2489200"/>
            <a:ext cx="90296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sabiendo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que: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80135" y="2813685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2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FLt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NP x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Cc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100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Ct</a:t>
            </a:r>
            <a:r>
              <a:rPr dirty="0" sz="1100" spc="114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0000FF"/>
                </a:solidFill>
                <a:latin typeface="Arial"/>
                <a:cs typeface="Arial"/>
              </a:rPr>
              <a:t>(%),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07439" y="3117850"/>
            <a:ext cx="52673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entonces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horario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3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puede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expresarse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como: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0135" y="3442334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2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RHt 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FLt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Ct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DFt</a:t>
            </a:r>
            <a:r>
              <a:rPr dirty="0" sz="1100" spc="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UTt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FOt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dirty="0" baseline="38461" sz="975" spc="-15" b="1" i="1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dirty="0" baseline="38461" sz="975" b="1" i="1">
                <a:solidFill>
                  <a:srgbClr val="0000FF"/>
                </a:solidFill>
                <a:latin typeface="Arial"/>
                <a:cs typeface="Arial"/>
              </a:rPr>
              <a:t>8</a:t>
            </a:r>
            <a:r>
              <a:rPr dirty="0" baseline="38461" sz="975" spc="337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TCt</a:t>
            </a:r>
            <a:r>
              <a:rPr dirty="0" sz="1100" spc="10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(ton/hra),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69339" y="3746500"/>
            <a:ext cx="4055745" cy="821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diario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L="1758950">
              <a:lnSpc>
                <a:spcPct val="100000"/>
              </a:lnSpc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RDt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RHt 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HTc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TDc</a:t>
            </a:r>
            <a:r>
              <a:rPr dirty="0" sz="1100" spc="1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(ton/día),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-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rendimiento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período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transporte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80135" y="4699634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2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RPt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RDt x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DPc</a:t>
            </a:r>
            <a:r>
              <a:rPr dirty="0" sz="1100" spc="1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(ton/período),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69339" y="5003800"/>
            <a:ext cx="5631815" cy="364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por</a:t>
            </a:r>
            <a:r>
              <a:rPr dirty="0" sz="1100" spc="5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lo</a:t>
            </a:r>
            <a:r>
              <a:rPr dirty="0" sz="1100" spc="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tanto</a:t>
            </a:r>
            <a:r>
              <a:rPr dirty="0" sz="1100" spc="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el</a:t>
            </a:r>
            <a:r>
              <a:rPr dirty="0" sz="1100" spc="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</a:t>
            </a:r>
            <a:r>
              <a:rPr dirty="0" sz="1100" spc="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equipos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requeridos</a:t>
            </a:r>
            <a:r>
              <a:rPr dirty="0" sz="1100" spc="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cumplir</a:t>
            </a:r>
            <a:r>
              <a:rPr dirty="0" sz="1100" spc="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con</a:t>
            </a:r>
            <a:r>
              <a:rPr dirty="0" sz="1100" spc="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producción</a:t>
            </a:r>
            <a:r>
              <a:rPr dirty="0" sz="1100" spc="8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del</a:t>
            </a:r>
            <a:r>
              <a:rPr dirty="0" sz="1100" spc="7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período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de: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80135" y="5499734"/>
            <a:ext cx="5612130" cy="17145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R="3810">
              <a:lnSpc>
                <a:spcPct val="100000"/>
              </a:lnSpc>
              <a:spcBef>
                <a:spcPts val="25"/>
              </a:spcBef>
            </a:pP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NºEquipos</a:t>
            </a:r>
            <a:r>
              <a:rPr dirty="0" sz="1100" spc="-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Transporte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dirty="0" sz="1100" spc="-1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dirty="0" sz="1100" spc="-1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25" b="1" i="1">
                <a:solidFill>
                  <a:srgbClr val="0000FF"/>
                </a:solidFill>
                <a:latin typeface="Arial"/>
                <a:cs typeface="Arial"/>
              </a:rPr>
              <a:t>RPt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69339" y="5803900"/>
            <a:ext cx="5382895" cy="364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Resultado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al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cual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tendrá</a:t>
            </a:r>
            <a:r>
              <a:rPr dirty="0" sz="11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someter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un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análisis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criterios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que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permita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definir</a:t>
            </a:r>
            <a:r>
              <a:rPr dirty="0" sz="1100" spc="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un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número</a:t>
            </a:r>
            <a:r>
              <a:rPr dirty="0" sz="1100" spc="-3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entero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equipos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para</a:t>
            </a:r>
            <a:r>
              <a:rPr dirty="0" sz="11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la</a:t>
            </a:r>
            <a:r>
              <a:rPr dirty="0" sz="1100" spc="-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operación</a:t>
            </a:r>
            <a:r>
              <a:rPr dirty="0" sz="11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34343"/>
                </a:solidFill>
                <a:latin typeface="Arial"/>
                <a:cs typeface="Arial"/>
              </a:rPr>
              <a:t>de</a:t>
            </a:r>
            <a:r>
              <a:rPr dirty="0" sz="1100" spc="-10">
                <a:solidFill>
                  <a:srgbClr val="434343"/>
                </a:solidFill>
                <a:latin typeface="Arial"/>
                <a:cs typeface="Arial"/>
              </a:rPr>
              <a:t> transporte.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juvenal</dc:creator>
  <dcterms:created xsi:type="dcterms:W3CDTF">2025-02-11T03:04:51Z</dcterms:created>
  <dcterms:modified xsi:type="dcterms:W3CDTF">2025-02-11T03:04:51Z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2025-02-11T00:00:00Z</vt:filetime>
  </property>
  <property fmtid="{D5CDD505-2E9C-101B-9397-08002B2CF9AE}" pid="3" name="Creator">
    <vt:lpwstr>Writer</vt:lpwstr>
  </property>
  <property fmtid="{D5CDD505-2E9C-101B-9397-08002B2CF9AE}" pid="4" name="LastSaved">
    <vt:filetime>2025-02-11T00:00:00Z</vt:filetime>
  </property>
</Properties>
</file>